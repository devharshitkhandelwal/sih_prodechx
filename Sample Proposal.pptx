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20"/>
  </p:notesMasterIdLst>
  <p:handoutMasterIdLst>
    <p:handoutMasterId r:id="rId21"/>
  </p:handoutMasterIdLst>
  <p:sldIdLst>
    <p:sldId id="537" r:id="rId2"/>
    <p:sldId id="538" r:id="rId3"/>
    <p:sldId id="539" r:id="rId4"/>
    <p:sldId id="605" r:id="rId5"/>
    <p:sldId id="557" r:id="rId6"/>
    <p:sldId id="587" r:id="rId7"/>
    <p:sldId id="556" r:id="rId8"/>
    <p:sldId id="593" r:id="rId9"/>
    <p:sldId id="554" r:id="rId10"/>
    <p:sldId id="540" r:id="rId11"/>
    <p:sldId id="594" r:id="rId12"/>
    <p:sldId id="542" r:id="rId13"/>
    <p:sldId id="588" r:id="rId14"/>
    <p:sldId id="543" r:id="rId15"/>
    <p:sldId id="544" r:id="rId16"/>
    <p:sldId id="560" r:id="rId17"/>
    <p:sldId id="606" r:id="rId18"/>
    <p:sldId id="607" r:id="rId19"/>
  </p:sldIdLst>
  <p:sldSz cx="9144000" cy="5143500" type="screen16x9"/>
  <p:notesSz cx="6858000" cy="9144000"/>
  <p:defaultTextStyle>
    <a:defPPr>
      <a:defRPr lang="en-US"/>
    </a:defPPr>
    <a:lvl1pPr marL="0" algn="l" defTabSz="914296" rtl="0" eaLnBrk="1" latinLnBrk="0" hangingPunct="1">
      <a:defRPr sz="1800" kern="1200">
        <a:solidFill>
          <a:schemeClr val="tx1"/>
        </a:solidFill>
        <a:latin typeface="+mn-lt"/>
        <a:ea typeface="+mn-ea"/>
        <a:cs typeface="+mn-cs"/>
      </a:defRPr>
    </a:lvl1pPr>
    <a:lvl2pPr marL="457148" algn="l" defTabSz="914296" rtl="0" eaLnBrk="1" latinLnBrk="0" hangingPunct="1">
      <a:defRPr sz="1800" kern="1200">
        <a:solidFill>
          <a:schemeClr val="tx1"/>
        </a:solidFill>
        <a:latin typeface="+mn-lt"/>
        <a:ea typeface="+mn-ea"/>
        <a:cs typeface="+mn-cs"/>
      </a:defRPr>
    </a:lvl2pPr>
    <a:lvl3pPr marL="914296" algn="l" defTabSz="914296" rtl="0" eaLnBrk="1" latinLnBrk="0" hangingPunct="1">
      <a:defRPr sz="1800" kern="1200">
        <a:solidFill>
          <a:schemeClr val="tx1"/>
        </a:solidFill>
        <a:latin typeface="+mn-lt"/>
        <a:ea typeface="+mn-ea"/>
        <a:cs typeface="+mn-cs"/>
      </a:defRPr>
    </a:lvl3pPr>
    <a:lvl4pPr marL="1371444" algn="l" defTabSz="914296" rtl="0" eaLnBrk="1" latinLnBrk="0" hangingPunct="1">
      <a:defRPr sz="1800" kern="1200">
        <a:solidFill>
          <a:schemeClr val="tx1"/>
        </a:solidFill>
        <a:latin typeface="+mn-lt"/>
        <a:ea typeface="+mn-ea"/>
        <a:cs typeface="+mn-cs"/>
      </a:defRPr>
    </a:lvl4pPr>
    <a:lvl5pPr marL="1828592" algn="l" defTabSz="914296" rtl="0" eaLnBrk="1" latinLnBrk="0" hangingPunct="1">
      <a:defRPr sz="1800" kern="1200">
        <a:solidFill>
          <a:schemeClr val="tx1"/>
        </a:solidFill>
        <a:latin typeface="+mn-lt"/>
        <a:ea typeface="+mn-ea"/>
        <a:cs typeface="+mn-cs"/>
      </a:defRPr>
    </a:lvl5pPr>
    <a:lvl6pPr marL="2285740" algn="l" defTabSz="914296" rtl="0" eaLnBrk="1" latinLnBrk="0" hangingPunct="1">
      <a:defRPr sz="1800" kern="1200">
        <a:solidFill>
          <a:schemeClr val="tx1"/>
        </a:solidFill>
        <a:latin typeface="+mn-lt"/>
        <a:ea typeface="+mn-ea"/>
        <a:cs typeface="+mn-cs"/>
      </a:defRPr>
    </a:lvl6pPr>
    <a:lvl7pPr marL="2742888" algn="l" defTabSz="914296" rtl="0" eaLnBrk="1" latinLnBrk="0" hangingPunct="1">
      <a:defRPr sz="1800" kern="1200">
        <a:solidFill>
          <a:schemeClr val="tx1"/>
        </a:solidFill>
        <a:latin typeface="+mn-lt"/>
        <a:ea typeface="+mn-ea"/>
        <a:cs typeface="+mn-cs"/>
      </a:defRPr>
    </a:lvl7pPr>
    <a:lvl8pPr marL="3200036" algn="l" defTabSz="914296" rtl="0" eaLnBrk="1" latinLnBrk="0" hangingPunct="1">
      <a:defRPr sz="1800" kern="1200">
        <a:solidFill>
          <a:schemeClr val="tx1"/>
        </a:solidFill>
        <a:latin typeface="+mn-lt"/>
        <a:ea typeface="+mn-ea"/>
        <a:cs typeface="+mn-cs"/>
      </a:defRPr>
    </a:lvl8pPr>
    <a:lvl9pPr marL="3657184" algn="l" defTabSz="91429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48A6"/>
    <a:srgbClr val="0C4458"/>
    <a:srgbClr val="0C5413"/>
    <a:srgbClr val="5AA3B5"/>
    <a:srgbClr val="F44914"/>
    <a:srgbClr val="FFFF66"/>
    <a:srgbClr val="16C2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29" autoAdjust="0"/>
    <p:restoredTop sz="93011" autoAdjust="0"/>
  </p:normalViewPr>
  <p:slideViewPr>
    <p:cSldViewPr>
      <p:cViewPr varScale="1">
        <p:scale>
          <a:sx n="108" d="100"/>
          <a:sy n="108" d="100"/>
        </p:scale>
        <p:origin x="917" y="53"/>
      </p:cViewPr>
      <p:guideLst>
        <p:guide orient="horz" pos="1620"/>
        <p:guide pos="2880"/>
      </p:guideLst>
    </p:cSldViewPr>
  </p:slideViewPr>
  <p:outlineViewPr>
    <p:cViewPr>
      <p:scale>
        <a:sx n="33" d="100"/>
        <a:sy n="33" d="100"/>
      </p:scale>
      <p:origin x="0" y="5322"/>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395D65C-E334-4448-A3E9-86BC5114D534}" type="datetimeFigureOut">
              <a:rPr lang="en-US" smtClean="0"/>
              <a:pPr/>
              <a:t>8/22/2026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38A7E99-D4C7-4553-B3C9-15668503790C}" type="slidenum">
              <a:rPr lang="en-US" smtClean="0"/>
              <a:pPr/>
              <a:t>‹#›</a:t>
            </a:fld>
            <a:endParaRPr lang="en-US" dirty="0"/>
          </a:p>
        </p:txBody>
      </p:sp>
    </p:spTree>
    <p:extLst>
      <p:ext uri="{BB962C8B-B14F-4D97-AF65-F5344CB8AC3E}">
        <p14:creationId xmlns:p14="http://schemas.microsoft.com/office/powerpoint/2010/main" val="63154069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EDC061-17D0-4AF0-A367-71EF693B3C22}" type="datetimeFigureOut">
              <a:rPr lang="en-US" smtClean="0"/>
              <a:pPr/>
              <a:t>8/22/2026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0F8A2E-5DD4-41FF-A1B5-3F6219BFBA37}" type="slidenum">
              <a:rPr lang="en-US" smtClean="0"/>
              <a:pPr/>
              <a:t>‹#›</a:t>
            </a:fld>
            <a:endParaRPr lang="en-US" dirty="0"/>
          </a:p>
        </p:txBody>
      </p:sp>
    </p:spTree>
    <p:extLst>
      <p:ext uri="{BB962C8B-B14F-4D97-AF65-F5344CB8AC3E}">
        <p14:creationId xmlns:p14="http://schemas.microsoft.com/office/powerpoint/2010/main" val="2406854110"/>
      </p:ext>
    </p:extLst>
  </p:cSld>
  <p:clrMap bg1="lt1" tx1="dk1" bg2="lt2" tx2="dk2" accent1="accent1" accent2="accent2" accent3="accent3" accent4="accent4" accent5="accent5" accent6="accent6" hlink="hlink" folHlink="folHlink"/>
  <p:hf sldNum="0" hdr="0" ftr="0" dt="0"/>
  <p:notesStyle>
    <a:lvl1pPr marL="0" algn="l" defTabSz="914296" rtl="0" eaLnBrk="1" latinLnBrk="0" hangingPunct="1">
      <a:defRPr sz="1200" kern="1200">
        <a:solidFill>
          <a:schemeClr val="tx1"/>
        </a:solidFill>
        <a:latin typeface="+mn-lt"/>
        <a:ea typeface="+mn-ea"/>
        <a:cs typeface="+mn-cs"/>
      </a:defRPr>
    </a:lvl1pPr>
    <a:lvl2pPr marL="457148" algn="l" defTabSz="914296" rtl="0" eaLnBrk="1" latinLnBrk="0" hangingPunct="1">
      <a:defRPr sz="1200" kern="1200">
        <a:solidFill>
          <a:schemeClr val="tx1"/>
        </a:solidFill>
        <a:latin typeface="+mn-lt"/>
        <a:ea typeface="+mn-ea"/>
        <a:cs typeface="+mn-cs"/>
      </a:defRPr>
    </a:lvl2pPr>
    <a:lvl3pPr marL="914296" algn="l" defTabSz="914296" rtl="0" eaLnBrk="1" latinLnBrk="0" hangingPunct="1">
      <a:defRPr sz="1200" kern="1200">
        <a:solidFill>
          <a:schemeClr val="tx1"/>
        </a:solidFill>
        <a:latin typeface="+mn-lt"/>
        <a:ea typeface="+mn-ea"/>
        <a:cs typeface="+mn-cs"/>
      </a:defRPr>
    </a:lvl3pPr>
    <a:lvl4pPr marL="1371444" algn="l" defTabSz="914296" rtl="0" eaLnBrk="1" latinLnBrk="0" hangingPunct="1">
      <a:defRPr sz="1200" kern="1200">
        <a:solidFill>
          <a:schemeClr val="tx1"/>
        </a:solidFill>
        <a:latin typeface="+mn-lt"/>
        <a:ea typeface="+mn-ea"/>
        <a:cs typeface="+mn-cs"/>
      </a:defRPr>
    </a:lvl4pPr>
    <a:lvl5pPr marL="1828592" algn="l" defTabSz="914296" rtl="0" eaLnBrk="1" latinLnBrk="0" hangingPunct="1">
      <a:defRPr sz="1200" kern="1200">
        <a:solidFill>
          <a:schemeClr val="tx1"/>
        </a:solidFill>
        <a:latin typeface="+mn-lt"/>
        <a:ea typeface="+mn-ea"/>
        <a:cs typeface="+mn-cs"/>
      </a:defRPr>
    </a:lvl5pPr>
    <a:lvl6pPr marL="2285740" algn="l" defTabSz="914296" rtl="0" eaLnBrk="1" latinLnBrk="0" hangingPunct="1">
      <a:defRPr sz="1200" kern="1200">
        <a:solidFill>
          <a:schemeClr val="tx1"/>
        </a:solidFill>
        <a:latin typeface="+mn-lt"/>
        <a:ea typeface="+mn-ea"/>
        <a:cs typeface="+mn-cs"/>
      </a:defRPr>
    </a:lvl6pPr>
    <a:lvl7pPr marL="2742888" algn="l" defTabSz="914296" rtl="0" eaLnBrk="1" latinLnBrk="0" hangingPunct="1">
      <a:defRPr sz="1200" kern="1200">
        <a:solidFill>
          <a:schemeClr val="tx1"/>
        </a:solidFill>
        <a:latin typeface="+mn-lt"/>
        <a:ea typeface="+mn-ea"/>
        <a:cs typeface="+mn-cs"/>
      </a:defRPr>
    </a:lvl7pPr>
    <a:lvl8pPr marL="3200036" algn="l" defTabSz="914296" rtl="0" eaLnBrk="1" latinLnBrk="0" hangingPunct="1">
      <a:defRPr sz="1200" kern="1200">
        <a:solidFill>
          <a:schemeClr val="tx1"/>
        </a:solidFill>
        <a:latin typeface="+mn-lt"/>
        <a:ea typeface="+mn-ea"/>
        <a:cs typeface="+mn-cs"/>
      </a:defRPr>
    </a:lvl8pPr>
    <a:lvl9pPr marL="3657184" algn="l" defTabSz="91429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2548645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3921349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2795737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55158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3488712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1687079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4110751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24976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1428056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1759929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425012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1066841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3744859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3251839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2731673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81006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26410856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t>
            </a:r>
            <a:r>
              <a:rPr lang="en-US" baseline="0" dirty="0" smtClean="0"/>
              <a:t> B 12 10 16-1</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27July 17 1 B2</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p:txBody>
      </p:sp>
    </p:spTree>
    <p:extLst>
      <p:ext uri="{BB962C8B-B14F-4D97-AF65-F5344CB8AC3E}">
        <p14:creationId xmlns:p14="http://schemas.microsoft.com/office/powerpoint/2010/main" val="4239866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3"/>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3"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9"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92"/>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9"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7"/>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BEFDC2-48E5-4511-B8C8-B1427A8FEE3D}" type="datetimeFigureOut">
              <a:rPr lang="en-US" smtClean="0"/>
              <a:pPr/>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160658-08B1-4597-95BC-EBDFAD10757E}"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7BEFDC2-48E5-4511-B8C8-B1427A8FEE3D}" type="datetimeFigureOut">
              <a:rPr lang="en-US" smtClean="0"/>
              <a:pPr/>
              <a:t>8/22/2026</a:t>
            </a:fld>
            <a:endParaRPr lang="en-US" dirty="0"/>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71160658-08B1-4597-95BC-EBDFAD10757E}" type="slidenum">
              <a:rPr lang="en-US" smtClean="0"/>
              <a:pPr/>
              <a:t>‹#›</a:t>
            </a:fld>
            <a:endParaRPr lang="en-US" dirty="0"/>
          </a:p>
        </p:txBody>
      </p:sp>
      <p:sp>
        <p:nvSpPr>
          <p:cNvPr id="10" name="Footer Placeholder 10"/>
          <p:cNvSpPr txBox="1">
            <a:spLocks/>
          </p:cNvSpPr>
          <p:nvPr/>
        </p:nvSpPr>
        <p:spPr>
          <a:xfrm>
            <a:off x="0" y="4705350"/>
            <a:ext cx="9144000" cy="457200"/>
          </a:xfrm>
          <a:prstGeom prst="rect">
            <a:avLst/>
          </a:prstGeom>
          <a:solidFill>
            <a:srgbClr val="FFFF66"/>
          </a:solidFill>
        </p:spPr>
        <p:txBody>
          <a:bodyPr lIns="91430" tIns="45715" rIns="91430" bIns="45715"/>
          <a:lstStyle/>
          <a:p>
            <a:pPr marL="0" marR="0" lvl="0" indent="0" algn="ctr" defTabSz="914296" rtl="0" eaLnBrk="1" fontAlgn="auto" latinLnBrk="0" hangingPunct="1">
              <a:lnSpc>
                <a:spcPts val="2000"/>
              </a:lnSpc>
              <a:spcBef>
                <a:spcPts val="0"/>
              </a:spcBef>
              <a:spcAft>
                <a:spcPts val="0"/>
              </a:spcAft>
              <a:buClrTx/>
              <a:buSzTx/>
              <a:buFontTx/>
              <a:buNone/>
              <a:tabLst/>
              <a:defRPr/>
            </a:pPr>
            <a:r>
              <a:rPr kumimoji="0" lang="en-US" sz="1500" b="1" i="0" u="none" strike="noStrike" kern="1200" cap="none" spc="0" normalizeH="0" baseline="0" noProof="0" dirty="0" smtClean="0">
                <a:ln>
                  <a:noFill/>
                </a:ln>
                <a:solidFill>
                  <a:schemeClr val="tx1"/>
                </a:solidFill>
                <a:effectLst/>
                <a:uLnTx/>
                <a:uFillTx/>
                <a:latin typeface="Verdana" pitchFamily="34" charset="0"/>
                <a:ea typeface="Verdana" pitchFamily="34" charset="0"/>
                <a:cs typeface="+mn-cs"/>
              </a:rPr>
              <a:t> </a:t>
            </a: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488363" cy="3581400"/>
          </a:xfrm>
          <a:prstGeom prst="rect">
            <a:avLst/>
          </a:prstGeom>
          <a:solidFill>
            <a:schemeClr val="bg1">
              <a:alpha val="90000"/>
            </a:schemeClr>
          </a:solidFill>
        </p:spPr>
        <p:txBody>
          <a:bodyPr lIns="91430" tIns="45715" rIns="91430" bIns="45715">
            <a:noAutofit/>
          </a:bodyPr>
          <a:lstStyle/>
          <a:p>
            <a:pPr marL="55563" algn="ctr">
              <a:lnSpc>
                <a:spcPct val="145000"/>
              </a:lnSpc>
              <a:buNone/>
            </a:pPr>
            <a:endParaRPr lang="en-US" sz="1000" b="1" dirty="0">
              <a:latin typeface="Arial Rounded MT Bold" pitchFamily="34" charset="0"/>
            </a:endParaRPr>
          </a:p>
          <a:p>
            <a:pPr marL="55563" algn="ctr">
              <a:lnSpc>
                <a:spcPct val="145000"/>
              </a:lnSpc>
              <a:buNone/>
            </a:pPr>
            <a:endParaRPr lang="en-US" sz="2400" b="1" dirty="0" smtClean="0">
              <a:latin typeface="Arial Rounded MT Bold" pitchFamily="34" charset="0"/>
            </a:endParaRPr>
          </a:p>
          <a:p>
            <a:pPr marL="55563" algn="ctr">
              <a:lnSpc>
                <a:spcPct val="145000"/>
              </a:lnSpc>
              <a:buNone/>
            </a:pPr>
            <a:r>
              <a:rPr lang="en-US" sz="5400" b="1" dirty="0" smtClean="0">
                <a:latin typeface="Arial Rounded MT Bold" pitchFamily="34" charset="0"/>
              </a:rPr>
              <a:t>Project </a:t>
            </a:r>
            <a:r>
              <a:rPr lang="en-US" sz="5400" b="1" dirty="0">
                <a:latin typeface="Arial Rounded MT Bold" pitchFamily="34" charset="0"/>
              </a:rPr>
              <a:t>Proposal</a:t>
            </a:r>
            <a:endParaRPr lang="en-US" sz="4000" dirty="0">
              <a:latin typeface="Arial Rounded MT Bold" pitchFamily="34" charset="0"/>
            </a:endParaRPr>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pPr marL="541721" indent="-514292" algn="ctr"/>
            <a:r>
              <a:rPr lang="en-US" sz="4800" b="1" dirty="0" smtClean="0">
                <a:solidFill>
                  <a:srgbClr val="0E48A6"/>
                </a:solidFill>
                <a:latin typeface="Adobe Gothic Std B" pitchFamily="34" charset="-128"/>
                <a:ea typeface="Adobe Gothic Std B" pitchFamily="34" charset="-128"/>
              </a:rPr>
              <a:t>Project Title</a:t>
            </a:r>
            <a:endParaRPr lang="en-US" sz="4800" dirty="0" smtClean="0">
              <a:solidFill>
                <a:srgbClr val="0E48A6"/>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488363" cy="3581400"/>
          </a:xfrm>
          <a:prstGeom prst="rect">
            <a:avLst/>
          </a:prstGeom>
          <a:solidFill>
            <a:schemeClr val="bg1">
              <a:alpha val="90000"/>
            </a:schemeClr>
          </a:solidFill>
        </p:spPr>
        <p:txBody>
          <a:bodyPr lIns="91430" tIns="45715" rIns="91430" bIns="45715">
            <a:noAutofit/>
          </a:bodyPr>
          <a:lstStyle/>
          <a:p>
            <a:pPr marL="55557" indent="457148">
              <a:buNone/>
            </a:pPr>
            <a:r>
              <a:rPr lang="en-US" sz="2000" b="1" dirty="0" smtClean="0"/>
              <a:t>A This System Is an Automated Shop Management System. Through The Software User Can Add Members, Add Product, Search Product,  Update Information , Edit Information, Buy The Product in Quick Time.</a:t>
            </a:r>
          </a:p>
          <a:p>
            <a:pPr marL="55557" indent="457148">
              <a:buNone/>
            </a:pPr>
            <a:r>
              <a:rPr lang="en-US" sz="2000" b="1" dirty="0" smtClean="0"/>
              <a:t>An online store is virtual store on the internet where customers can browse  the catalog and select products of interest. The selected items may be collected in a shopping cart. At checkout time. The items in the shopping cart will be presented as an order. At that time, more information will be needed to complete the transaction Usually the customer will be asked to  fill or select a billing  address, a shipping address a shipping option  and payment information such as prepaid or Cast on Delivery, An e-mail notification is sent to the customer as soon as the order is placed</a:t>
            </a:r>
          </a:p>
          <a:p>
            <a:pPr marL="55557" indent="457148">
              <a:buNone/>
            </a:pPr>
            <a:endParaRPr lang="en-US" sz="2000" b="1" dirty="0" smtClean="0"/>
          </a:p>
          <a:p>
            <a:pPr marL="55557" indent="457148">
              <a:buNone/>
            </a:pPr>
            <a:endParaRPr lang="en-US" sz="2000" dirty="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pPr marL="541721" indent="-514292" algn="ctr"/>
            <a:r>
              <a:rPr lang="en-US" sz="4800" b="1" dirty="0" smtClean="0">
                <a:solidFill>
                  <a:srgbClr val="0E48A6"/>
                </a:solidFill>
                <a:latin typeface="Adobe Gothic Std B" pitchFamily="34" charset="-128"/>
                <a:ea typeface="Adobe Gothic Std B" pitchFamily="34" charset="-128"/>
              </a:rPr>
              <a:t>Introduction</a:t>
            </a:r>
            <a:endParaRPr lang="en-US" sz="4800" dirty="0" smtClean="0">
              <a:solidFill>
                <a:srgbClr val="0E48A6"/>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332935" y="1054491"/>
            <a:ext cx="8488363" cy="3581400"/>
          </a:xfrm>
          <a:prstGeom prst="rect">
            <a:avLst/>
          </a:prstGeom>
          <a:solidFill>
            <a:schemeClr val="bg1">
              <a:alpha val="90000"/>
            </a:schemeClr>
          </a:solidFill>
        </p:spPr>
        <p:txBody>
          <a:bodyPr lIns="91430" tIns="45715" rIns="91430" bIns="45715">
            <a:noAutofit/>
          </a:bodyPr>
          <a:lstStyle/>
          <a:p>
            <a:pPr lvl="0"/>
            <a:r>
              <a:rPr lang="en-IN" sz="2000" dirty="0" smtClean="0"/>
              <a:t> </a:t>
            </a:r>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Need of Project</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488363" cy="3581400"/>
          </a:xfrm>
          <a:prstGeom prst="rect">
            <a:avLst/>
          </a:prstGeom>
          <a:solidFill>
            <a:schemeClr val="bg1">
              <a:alpha val="90000"/>
            </a:schemeClr>
          </a:solidFill>
        </p:spPr>
        <p:txBody>
          <a:bodyPr lIns="91430" tIns="45715" rIns="91430" bIns="45715">
            <a:noAutofit/>
          </a:bodyPr>
          <a:lstStyle/>
          <a:p>
            <a:pPr lvl="0"/>
            <a:r>
              <a:rPr lang="en-IN" sz="2400" dirty="0" smtClean="0"/>
              <a:t>Users of system are divided in 3 categories </a:t>
            </a:r>
          </a:p>
          <a:p>
            <a:pPr lvl="1"/>
            <a:r>
              <a:rPr lang="en-IN" sz="2000" dirty="0" smtClean="0"/>
              <a:t>Admin</a:t>
            </a:r>
          </a:p>
          <a:p>
            <a:pPr lvl="1"/>
            <a:r>
              <a:rPr lang="en-IN" sz="2000" dirty="0" smtClean="0"/>
              <a:t>Customer</a:t>
            </a:r>
          </a:p>
          <a:p>
            <a:pPr lvl="1"/>
            <a:r>
              <a:rPr lang="en-IN" sz="2000" dirty="0" smtClean="0"/>
              <a:t>Guest</a:t>
            </a:r>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Functionality</a:t>
            </a:r>
            <a:endParaRPr lang="en-US" sz="4800" dirty="0"/>
          </a:p>
        </p:txBody>
      </p:sp>
    </p:spTree>
    <p:extLst>
      <p:ext uri="{BB962C8B-B14F-4D97-AF65-F5344CB8AC3E}">
        <p14:creationId xmlns:p14="http://schemas.microsoft.com/office/powerpoint/2010/main" val="1567996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763000" cy="3657600"/>
          </a:xfrm>
          <a:prstGeom prst="rect">
            <a:avLst/>
          </a:prstGeom>
          <a:solidFill>
            <a:schemeClr val="bg1">
              <a:alpha val="90000"/>
            </a:schemeClr>
          </a:solidFill>
        </p:spPr>
        <p:txBody>
          <a:bodyPr lIns="91430" tIns="45715" rIns="91430" bIns="45715">
            <a:noAutofit/>
          </a:bodyPr>
          <a:lstStyle/>
          <a:p>
            <a:pPr>
              <a:buNone/>
            </a:pPr>
            <a:r>
              <a:rPr lang="en-IN" sz="2400" b="1" dirty="0" smtClean="0">
                <a:solidFill>
                  <a:srgbClr val="FF0000"/>
                </a:solidFill>
              </a:rPr>
              <a:t>Section A : Admin</a:t>
            </a:r>
          </a:p>
          <a:p>
            <a:pPr lvl="0"/>
            <a:r>
              <a:rPr lang="en-US" sz="2400" dirty="0" smtClean="0"/>
              <a:t>Login (Mobile No/ Password)</a:t>
            </a:r>
          </a:p>
          <a:p>
            <a:pPr lvl="0"/>
            <a:r>
              <a:rPr lang="en-US" sz="2400" dirty="0" smtClean="0"/>
              <a:t>Admin can Manage Category (Add / Edit / Delete / Search/ View/ Block / Unblock)</a:t>
            </a:r>
          </a:p>
          <a:p>
            <a:pPr lvl="0"/>
            <a:r>
              <a:rPr lang="en-US" sz="2400" dirty="0" smtClean="0"/>
              <a:t>Admin can Manage Product (Add / Edit / Delete / Search/ View/ Block / Unblock)</a:t>
            </a:r>
          </a:p>
          <a:p>
            <a:r>
              <a:rPr lang="en-US" sz="2400" dirty="0" smtClean="0"/>
              <a:t>Admin can Manage Customers (Search/ View/ Block/ Unblock)</a:t>
            </a:r>
          </a:p>
          <a:p>
            <a:pPr lvl="0"/>
            <a:r>
              <a:rPr lang="en-US" sz="2400" dirty="0" smtClean="0"/>
              <a:t>Admin can Manage Contact Us Details send by Customers (View/ Delete)</a:t>
            </a:r>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Functionality</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488363" cy="3581400"/>
          </a:xfrm>
          <a:prstGeom prst="rect">
            <a:avLst/>
          </a:prstGeom>
          <a:solidFill>
            <a:schemeClr val="bg1">
              <a:alpha val="90000"/>
            </a:schemeClr>
          </a:solidFill>
        </p:spPr>
        <p:txBody>
          <a:bodyPr lIns="91430" tIns="45715" rIns="91430" bIns="45715">
            <a:noAutofit/>
          </a:bodyPr>
          <a:lstStyle/>
          <a:p>
            <a:pPr>
              <a:buNone/>
            </a:pPr>
            <a:r>
              <a:rPr lang="en-IN" sz="2400" b="1" dirty="0" smtClean="0">
                <a:solidFill>
                  <a:srgbClr val="FF0000"/>
                </a:solidFill>
              </a:rPr>
              <a:t>Section A : Admin</a:t>
            </a:r>
          </a:p>
          <a:p>
            <a:pPr lvl="0"/>
            <a:r>
              <a:rPr lang="en-US" sz="2400" dirty="0" smtClean="0"/>
              <a:t>Admin can Manage Review (View)</a:t>
            </a:r>
          </a:p>
          <a:p>
            <a:r>
              <a:rPr lang="en-US" sz="2400" dirty="0" smtClean="0"/>
              <a:t>Admin can Manage Order-Master (Approve Order / Order Cancel/ Change Status)</a:t>
            </a:r>
          </a:p>
          <a:p>
            <a:pPr lvl="0"/>
            <a:r>
              <a:rPr lang="en-US" sz="2400" dirty="0" smtClean="0"/>
              <a:t>System must have an option for Change Password  </a:t>
            </a:r>
          </a:p>
          <a:p>
            <a:pPr lvl="0"/>
            <a:r>
              <a:rPr lang="en-US" sz="2400" dirty="0" smtClean="0"/>
              <a:t>Logout</a:t>
            </a:r>
            <a:endParaRPr lang="en-US" sz="2400" dirty="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Functionality</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304243" y="1047750"/>
            <a:ext cx="8488363" cy="3581400"/>
          </a:xfrm>
          <a:prstGeom prst="rect">
            <a:avLst/>
          </a:prstGeom>
          <a:solidFill>
            <a:schemeClr val="bg1">
              <a:alpha val="90000"/>
            </a:schemeClr>
          </a:solidFill>
        </p:spPr>
        <p:txBody>
          <a:bodyPr lIns="91430" tIns="45715" rIns="91430" bIns="45715">
            <a:noAutofit/>
          </a:bodyPr>
          <a:lstStyle/>
          <a:p>
            <a:pPr>
              <a:buNone/>
            </a:pPr>
            <a:r>
              <a:rPr lang="en-IN" sz="2400" b="1" dirty="0" smtClean="0">
                <a:solidFill>
                  <a:srgbClr val="FF0000"/>
                </a:solidFill>
              </a:rPr>
              <a:t>Section B : Customer Section</a:t>
            </a:r>
          </a:p>
          <a:p>
            <a:r>
              <a:rPr lang="en-IN" sz="2400" dirty="0" smtClean="0"/>
              <a:t>Login(Mobile No/ Password)</a:t>
            </a:r>
          </a:p>
          <a:p>
            <a:r>
              <a:rPr lang="en-IN" sz="2400" dirty="0" smtClean="0"/>
              <a:t>Customer can View Profile Details and can also Perform Edit Profile</a:t>
            </a:r>
            <a:endParaRPr lang="en-IN" sz="2400" dirty="0"/>
          </a:p>
          <a:p>
            <a:r>
              <a:rPr lang="en-IN" sz="2400" dirty="0"/>
              <a:t>Customer can C</a:t>
            </a:r>
            <a:r>
              <a:rPr lang="en-US" sz="2400" dirty="0"/>
              <a:t>hange Password</a:t>
            </a:r>
            <a:r>
              <a:rPr lang="en-IN" sz="2400" dirty="0"/>
              <a:t> </a:t>
            </a:r>
          </a:p>
          <a:p>
            <a:r>
              <a:rPr lang="en-IN" sz="2400" dirty="0"/>
              <a:t>Customer can </a:t>
            </a:r>
            <a:r>
              <a:rPr lang="en-IN" sz="2400" dirty="0" smtClean="0"/>
              <a:t>Perform Forget </a:t>
            </a:r>
            <a:r>
              <a:rPr lang="en-US" sz="2400" dirty="0" smtClean="0"/>
              <a:t>Password</a:t>
            </a:r>
            <a:r>
              <a:rPr lang="en-IN" sz="2400" dirty="0" smtClean="0"/>
              <a:t> </a:t>
            </a:r>
            <a:endParaRPr lang="en-IN" sz="2400" dirty="0"/>
          </a:p>
          <a:p>
            <a:pPr lvl="0"/>
            <a:r>
              <a:rPr lang="en-IN" sz="2400" dirty="0"/>
              <a:t>Customer can Add Product to Cart  </a:t>
            </a:r>
          </a:p>
          <a:p>
            <a:r>
              <a:rPr lang="en-IN" sz="2400" dirty="0"/>
              <a:t>Customer can </a:t>
            </a:r>
            <a:r>
              <a:rPr lang="en-IN" sz="2400" dirty="0" smtClean="0"/>
              <a:t>View </a:t>
            </a:r>
            <a:r>
              <a:rPr lang="en-IN" sz="2400" dirty="0"/>
              <a:t>Cart </a:t>
            </a:r>
            <a:r>
              <a:rPr lang="en-IN" sz="2400" dirty="0" smtClean="0"/>
              <a:t>(Buy</a:t>
            </a:r>
            <a:r>
              <a:rPr lang="en-IN" sz="2400" dirty="0"/>
              <a:t>/ </a:t>
            </a:r>
            <a:r>
              <a:rPr lang="en-IN" sz="2400" dirty="0" smtClean="0"/>
              <a:t>Checkout / Qty </a:t>
            </a:r>
            <a:r>
              <a:rPr lang="en-IN" sz="2400" dirty="0"/>
              <a:t>Change/ Delete</a:t>
            </a:r>
            <a:r>
              <a:rPr lang="en-IN" sz="2400" dirty="0" smtClean="0"/>
              <a:t>)</a:t>
            </a:r>
            <a:endParaRPr lang="en-IN" sz="2400" dirty="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Functionality</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304243" y="1047750"/>
            <a:ext cx="8488363" cy="3581400"/>
          </a:xfrm>
          <a:prstGeom prst="rect">
            <a:avLst/>
          </a:prstGeom>
          <a:solidFill>
            <a:schemeClr val="bg1">
              <a:alpha val="90000"/>
            </a:schemeClr>
          </a:solidFill>
        </p:spPr>
        <p:txBody>
          <a:bodyPr lIns="91430" tIns="45715" rIns="91430" bIns="45715">
            <a:noAutofit/>
          </a:bodyPr>
          <a:lstStyle/>
          <a:p>
            <a:pPr>
              <a:buNone/>
            </a:pPr>
            <a:r>
              <a:rPr lang="en-IN" sz="2400" b="1" dirty="0" smtClean="0">
                <a:solidFill>
                  <a:srgbClr val="FF0000"/>
                </a:solidFill>
              </a:rPr>
              <a:t>Section B : Customer Section</a:t>
            </a:r>
          </a:p>
          <a:p>
            <a:pPr lvl="0"/>
            <a:r>
              <a:rPr lang="en-IN" sz="2400" dirty="0" smtClean="0"/>
              <a:t>Customer can Manage Give Ratting and Review Product (Add / Edit</a:t>
            </a:r>
            <a:r>
              <a:rPr lang="en-IN" sz="2400" dirty="0"/>
              <a:t>/ </a:t>
            </a:r>
            <a:r>
              <a:rPr lang="en-IN" sz="2400" dirty="0" smtClean="0"/>
              <a:t>Delete)</a:t>
            </a:r>
            <a:endParaRPr lang="en-IN" sz="2400" dirty="0"/>
          </a:p>
          <a:p>
            <a:pPr lvl="0"/>
            <a:r>
              <a:rPr lang="en-IN" sz="2400" dirty="0" smtClean="0"/>
              <a:t>Customer can Manage Orders(Cancel</a:t>
            </a:r>
            <a:r>
              <a:rPr lang="en-IN" sz="2400" dirty="0"/>
              <a:t>/ </a:t>
            </a:r>
            <a:r>
              <a:rPr lang="en-IN" sz="2400" dirty="0" smtClean="0"/>
              <a:t>Tracking </a:t>
            </a:r>
            <a:r>
              <a:rPr lang="en-IN" sz="2400" dirty="0"/>
              <a:t>Order</a:t>
            </a:r>
            <a:r>
              <a:rPr lang="en-IN" sz="2400" dirty="0" smtClean="0"/>
              <a:t>/ View / Return)</a:t>
            </a:r>
          </a:p>
          <a:p>
            <a:pPr lvl="0"/>
            <a:r>
              <a:rPr lang="en-IN" sz="2400" dirty="0" smtClean="0"/>
              <a:t>Logout</a:t>
            </a:r>
            <a:endParaRPr lang="en-IN" sz="2400" dirty="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Functionality</a:t>
            </a:r>
            <a:endParaRPr lang="en-US" sz="4800" dirty="0"/>
          </a:p>
        </p:txBody>
      </p:sp>
    </p:spTree>
    <p:extLst>
      <p:ext uri="{BB962C8B-B14F-4D97-AF65-F5344CB8AC3E}">
        <p14:creationId xmlns:p14="http://schemas.microsoft.com/office/powerpoint/2010/main" val="20676741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304243" y="1123950"/>
            <a:ext cx="8488363" cy="3581400"/>
          </a:xfrm>
          <a:prstGeom prst="rect">
            <a:avLst/>
          </a:prstGeom>
          <a:solidFill>
            <a:schemeClr val="bg1">
              <a:alpha val="90000"/>
            </a:schemeClr>
          </a:solidFill>
        </p:spPr>
        <p:txBody>
          <a:bodyPr lIns="91430" tIns="45715" rIns="91430" bIns="45715">
            <a:noAutofit/>
          </a:bodyPr>
          <a:lstStyle/>
          <a:p>
            <a:pPr>
              <a:buNone/>
            </a:pPr>
            <a:r>
              <a:rPr lang="en-IN" sz="2400" b="1" dirty="0" smtClean="0">
                <a:solidFill>
                  <a:srgbClr val="FF0000"/>
                </a:solidFill>
              </a:rPr>
              <a:t>Section C </a:t>
            </a:r>
            <a:r>
              <a:rPr lang="en-IN" sz="2400" b="1" dirty="0">
                <a:solidFill>
                  <a:srgbClr val="FF0000"/>
                </a:solidFill>
              </a:rPr>
              <a:t>: </a:t>
            </a:r>
            <a:r>
              <a:rPr lang="en-IN" sz="2400" b="1" dirty="0" smtClean="0">
                <a:solidFill>
                  <a:srgbClr val="FF0000"/>
                </a:solidFill>
              </a:rPr>
              <a:t>Guest Section</a:t>
            </a:r>
            <a:endParaRPr lang="en-IN" sz="2400" b="1" dirty="0">
              <a:solidFill>
                <a:srgbClr val="FF0000"/>
              </a:solidFill>
            </a:endParaRPr>
          </a:p>
          <a:p>
            <a:r>
              <a:rPr lang="en-US" sz="2400" dirty="0" smtClean="0"/>
              <a:t>Guest Can Register</a:t>
            </a:r>
          </a:p>
          <a:p>
            <a:r>
              <a:rPr lang="en-US" sz="2400" dirty="0" smtClean="0"/>
              <a:t>Guest </a:t>
            </a:r>
            <a:r>
              <a:rPr lang="en-US" sz="2400" dirty="0"/>
              <a:t>Can Contact </a:t>
            </a:r>
            <a:r>
              <a:rPr lang="en-US" sz="2400" dirty="0" smtClean="0"/>
              <a:t>Us</a:t>
            </a:r>
          </a:p>
          <a:p>
            <a:r>
              <a:rPr lang="en-US" sz="2400" dirty="0"/>
              <a:t>Guest Can </a:t>
            </a:r>
            <a:r>
              <a:rPr lang="en-US" sz="2400" dirty="0" smtClean="0"/>
              <a:t>View Products </a:t>
            </a:r>
            <a:endParaRPr lang="en-US" sz="2400" dirty="0"/>
          </a:p>
          <a:p>
            <a:r>
              <a:rPr lang="en-US" sz="2400" dirty="0"/>
              <a:t>Guest Can View Details </a:t>
            </a:r>
            <a:r>
              <a:rPr lang="en-US" sz="2400" dirty="0" smtClean="0"/>
              <a:t>of selected Product</a:t>
            </a:r>
            <a:endParaRPr lang="en-US" sz="2400" dirty="0"/>
          </a:p>
          <a:p>
            <a:endParaRPr lang="en-US" sz="2400" dirty="0" smtClean="0"/>
          </a:p>
          <a:p>
            <a:endParaRPr lang="en-US" sz="2400" dirty="0" smtClean="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Functionality</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488363" cy="3581400"/>
          </a:xfrm>
          <a:prstGeom prst="rect">
            <a:avLst/>
          </a:prstGeom>
          <a:solidFill>
            <a:schemeClr val="bg1">
              <a:alpha val="90000"/>
            </a:schemeClr>
          </a:solidFill>
        </p:spPr>
        <p:txBody>
          <a:bodyPr lIns="91430" tIns="45715" rIns="91430" bIns="45715">
            <a:noAutofit/>
          </a:bodyPr>
          <a:lstStyle/>
          <a:p>
            <a:pPr>
              <a:buNone/>
            </a:pPr>
            <a:r>
              <a:rPr lang="en-US" sz="2400" b="1" dirty="0" smtClean="0">
                <a:solidFill>
                  <a:srgbClr val="FF0000"/>
                </a:solidFill>
              </a:rPr>
              <a:t>Admin Section</a:t>
            </a:r>
            <a:endParaRPr lang="en-US" sz="2400" dirty="0" smtClean="0">
              <a:solidFill>
                <a:srgbClr val="FF0000"/>
              </a:solidFill>
            </a:endParaRPr>
          </a:p>
          <a:p>
            <a:r>
              <a:rPr lang="en-US" sz="2400" dirty="0"/>
              <a:t>Login</a:t>
            </a:r>
          </a:p>
          <a:p>
            <a:r>
              <a:rPr lang="en-US" sz="2400" dirty="0" smtClean="0"/>
              <a:t>Home Page (Dashboard)</a:t>
            </a:r>
          </a:p>
          <a:p>
            <a:r>
              <a:rPr lang="en-US" sz="2400" dirty="0" smtClean="0"/>
              <a:t>Category Manage (Delete / Search/ View/ Block / Unblock)</a:t>
            </a:r>
          </a:p>
          <a:p>
            <a:r>
              <a:rPr lang="en-US" sz="2400" dirty="0" smtClean="0"/>
              <a:t>Category Add (Add / Edit)</a:t>
            </a:r>
          </a:p>
          <a:p>
            <a:pPr lvl="0"/>
            <a:r>
              <a:rPr lang="en-US" sz="2400" dirty="0" smtClean="0"/>
              <a:t>Manage </a:t>
            </a:r>
            <a:r>
              <a:rPr lang="en-US" sz="2400" dirty="0"/>
              <a:t>Product (Add / Edit / Delete / Search/ View/ Block / </a:t>
            </a:r>
            <a:r>
              <a:rPr lang="en-US" sz="2400" dirty="0" smtClean="0"/>
              <a:t>Unblock)</a:t>
            </a:r>
            <a:endParaRPr lang="en-US" sz="2400" dirty="0"/>
          </a:p>
          <a:p>
            <a:pPr lvl="0"/>
            <a:endParaRPr lang="en-US" sz="2400" dirty="0" smtClean="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Modules / Web Pages</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488363" cy="3581400"/>
          </a:xfrm>
          <a:prstGeom prst="rect">
            <a:avLst/>
          </a:prstGeom>
          <a:solidFill>
            <a:schemeClr val="bg1">
              <a:alpha val="90000"/>
            </a:schemeClr>
          </a:solidFill>
        </p:spPr>
        <p:txBody>
          <a:bodyPr lIns="91430" tIns="45715" rIns="91430" bIns="45715">
            <a:noAutofit/>
          </a:bodyPr>
          <a:lstStyle/>
          <a:p>
            <a:pPr>
              <a:buNone/>
            </a:pPr>
            <a:r>
              <a:rPr lang="en-US" sz="2400" b="1" dirty="0" smtClean="0">
                <a:solidFill>
                  <a:srgbClr val="FF0000"/>
                </a:solidFill>
              </a:rPr>
              <a:t>Admin Section</a:t>
            </a:r>
            <a:endParaRPr lang="en-US" sz="2400" dirty="0" smtClean="0">
              <a:solidFill>
                <a:srgbClr val="FF0000"/>
              </a:solidFill>
            </a:endParaRPr>
          </a:p>
          <a:p>
            <a:r>
              <a:rPr lang="en-US" sz="2400" dirty="0" smtClean="0"/>
              <a:t>Manage </a:t>
            </a:r>
            <a:r>
              <a:rPr lang="en-US" sz="2400" dirty="0"/>
              <a:t>Customers (Search/ View/ Block/ </a:t>
            </a:r>
            <a:r>
              <a:rPr lang="en-US" sz="2400" dirty="0" smtClean="0"/>
              <a:t>Unblock)</a:t>
            </a:r>
            <a:endParaRPr lang="en-US" sz="2400" dirty="0"/>
          </a:p>
          <a:p>
            <a:pPr lvl="0"/>
            <a:r>
              <a:rPr lang="en-US" sz="2400" dirty="0" smtClean="0"/>
              <a:t>Manage </a:t>
            </a:r>
            <a:r>
              <a:rPr lang="en-US" sz="2400" dirty="0"/>
              <a:t>Contact Us </a:t>
            </a:r>
            <a:r>
              <a:rPr lang="en-US" sz="2400" dirty="0" smtClean="0"/>
              <a:t>(</a:t>
            </a:r>
            <a:r>
              <a:rPr lang="en-US" sz="2400" dirty="0"/>
              <a:t>View/ Delete) </a:t>
            </a:r>
          </a:p>
          <a:p>
            <a:pPr lvl="0"/>
            <a:r>
              <a:rPr lang="en-US" sz="2400" dirty="0" smtClean="0"/>
              <a:t>Manage </a:t>
            </a:r>
            <a:r>
              <a:rPr lang="en-US" sz="2400" dirty="0"/>
              <a:t>Review (View)</a:t>
            </a:r>
          </a:p>
          <a:p>
            <a:r>
              <a:rPr lang="en-US" sz="2400" dirty="0" smtClean="0"/>
              <a:t>Manage Orders </a:t>
            </a:r>
            <a:r>
              <a:rPr lang="en-US" sz="2400" dirty="0"/>
              <a:t>(Approve Order / </a:t>
            </a:r>
            <a:r>
              <a:rPr lang="en-US" sz="2400" dirty="0" smtClean="0"/>
              <a:t>Cancel</a:t>
            </a:r>
            <a:r>
              <a:rPr lang="en-US" sz="2400" dirty="0"/>
              <a:t>/ Change Status)</a:t>
            </a:r>
          </a:p>
          <a:p>
            <a:r>
              <a:rPr lang="en-US" sz="2400" dirty="0"/>
              <a:t>Edit Profile </a:t>
            </a:r>
          </a:p>
          <a:p>
            <a:pPr lvl="0"/>
            <a:r>
              <a:rPr lang="en-US" sz="2400" dirty="0" smtClean="0"/>
              <a:t>Change </a:t>
            </a:r>
            <a:r>
              <a:rPr lang="en-US" sz="2400" dirty="0"/>
              <a:t>Password  </a:t>
            </a:r>
          </a:p>
          <a:p>
            <a:pPr lvl="0"/>
            <a:r>
              <a:rPr lang="en-US" sz="2400" dirty="0"/>
              <a:t>Logout</a:t>
            </a:r>
            <a:endParaRPr lang="en-US" sz="2400" dirty="0" smtClean="0"/>
          </a:p>
          <a:p>
            <a:pPr lvl="0"/>
            <a:endParaRPr lang="en-US" sz="2400" dirty="0" smtClean="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Modules / Web Pages</a:t>
            </a:r>
            <a:endParaRPr lang="en-US" sz="4800" dirty="0"/>
          </a:p>
        </p:txBody>
      </p:sp>
    </p:spTree>
    <p:extLst>
      <p:ext uri="{BB962C8B-B14F-4D97-AF65-F5344CB8AC3E}">
        <p14:creationId xmlns:p14="http://schemas.microsoft.com/office/powerpoint/2010/main" val="29002985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488363" cy="3581400"/>
          </a:xfrm>
          <a:prstGeom prst="rect">
            <a:avLst/>
          </a:prstGeom>
          <a:solidFill>
            <a:schemeClr val="bg1">
              <a:alpha val="90000"/>
            </a:schemeClr>
          </a:solidFill>
        </p:spPr>
        <p:txBody>
          <a:bodyPr lIns="91430" tIns="45715" rIns="91430" bIns="45715">
            <a:noAutofit/>
          </a:bodyPr>
          <a:lstStyle/>
          <a:p>
            <a:pPr>
              <a:buNone/>
            </a:pPr>
            <a:r>
              <a:rPr lang="en-IN" sz="2400" b="1" dirty="0" smtClean="0">
                <a:solidFill>
                  <a:srgbClr val="FF0000"/>
                </a:solidFill>
              </a:rPr>
              <a:t>Customer  </a:t>
            </a:r>
            <a:r>
              <a:rPr lang="en-US" sz="2400" b="1" dirty="0" smtClean="0">
                <a:solidFill>
                  <a:srgbClr val="FF0000"/>
                </a:solidFill>
              </a:rPr>
              <a:t>Section </a:t>
            </a:r>
            <a:r>
              <a:rPr lang="en-IN" sz="2400" b="1" dirty="0" smtClean="0">
                <a:solidFill>
                  <a:srgbClr val="FF0000"/>
                </a:solidFill>
              </a:rPr>
              <a:t> </a:t>
            </a:r>
            <a:r>
              <a:rPr lang="en-US" sz="2400" dirty="0" smtClean="0">
                <a:solidFill>
                  <a:srgbClr val="FF0000"/>
                </a:solidFill>
              </a:rPr>
              <a:t> </a:t>
            </a:r>
          </a:p>
          <a:p>
            <a:pPr lvl="0"/>
            <a:r>
              <a:rPr lang="en-US" sz="2400" dirty="0" smtClean="0"/>
              <a:t>Login</a:t>
            </a:r>
          </a:p>
          <a:p>
            <a:r>
              <a:rPr lang="en-US" sz="2400" dirty="0" smtClean="0"/>
              <a:t>Home </a:t>
            </a:r>
            <a:r>
              <a:rPr lang="en-US" sz="2400" dirty="0"/>
              <a:t>(Dashboard)</a:t>
            </a:r>
          </a:p>
          <a:p>
            <a:pPr lvl="0"/>
            <a:r>
              <a:rPr lang="en-US" sz="2400" dirty="0"/>
              <a:t>Add to </a:t>
            </a:r>
            <a:r>
              <a:rPr lang="en-US" sz="2400" dirty="0" smtClean="0"/>
              <a:t>Cart (Option)</a:t>
            </a:r>
            <a:endParaRPr lang="en-US" sz="2400" dirty="0"/>
          </a:p>
          <a:p>
            <a:pPr lvl="0"/>
            <a:r>
              <a:rPr lang="en-US" sz="2400" dirty="0"/>
              <a:t>View Cart</a:t>
            </a:r>
          </a:p>
          <a:p>
            <a:pPr lvl="0"/>
            <a:r>
              <a:rPr lang="en-US" sz="2400" dirty="0"/>
              <a:t>My Orders</a:t>
            </a:r>
          </a:p>
          <a:p>
            <a:pPr lvl="0"/>
            <a:r>
              <a:rPr lang="en-US" sz="2400" dirty="0"/>
              <a:t>Buy / </a:t>
            </a:r>
            <a:r>
              <a:rPr lang="en-US" sz="2400" dirty="0" smtClean="0"/>
              <a:t>Checkout</a:t>
            </a:r>
            <a:endParaRPr lang="en-US" sz="2400" dirty="0"/>
          </a:p>
          <a:p>
            <a:pPr lvl="0"/>
            <a:endParaRPr lang="en-US" sz="2400" dirty="0" smtClean="0"/>
          </a:p>
          <a:p>
            <a:pPr lvl="0">
              <a:buNone/>
            </a:pPr>
            <a:endParaRPr lang="en-US" sz="2400" dirty="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Modules / Web Pages</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123950"/>
            <a:ext cx="8488363" cy="3581400"/>
          </a:xfrm>
          <a:prstGeom prst="rect">
            <a:avLst/>
          </a:prstGeom>
          <a:solidFill>
            <a:schemeClr val="bg1">
              <a:alpha val="90000"/>
            </a:schemeClr>
          </a:solidFill>
        </p:spPr>
        <p:txBody>
          <a:bodyPr lIns="91430" tIns="45715" rIns="91430" bIns="45715">
            <a:noAutofit/>
          </a:bodyPr>
          <a:lstStyle/>
          <a:p>
            <a:pPr>
              <a:buNone/>
            </a:pPr>
            <a:r>
              <a:rPr lang="en-IN" sz="2400" b="1" dirty="0" smtClean="0">
                <a:solidFill>
                  <a:srgbClr val="FF0000"/>
                </a:solidFill>
              </a:rPr>
              <a:t>Customer</a:t>
            </a:r>
            <a:r>
              <a:rPr lang="en-US" sz="2400" b="1" dirty="0" smtClean="0"/>
              <a:t> </a:t>
            </a:r>
            <a:r>
              <a:rPr lang="en-US" sz="2400" b="1" dirty="0" smtClean="0">
                <a:solidFill>
                  <a:srgbClr val="FF0000"/>
                </a:solidFill>
              </a:rPr>
              <a:t>Section </a:t>
            </a:r>
            <a:r>
              <a:rPr lang="en-IN" sz="2400" b="1" dirty="0" smtClean="0">
                <a:solidFill>
                  <a:srgbClr val="FF0000"/>
                </a:solidFill>
              </a:rPr>
              <a:t> </a:t>
            </a:r>
            <a:endParaRPr lang="en-US" sz="2400" dirty="0" smtClean="0"/>
          </a:p>
          <a:p>
            <a:pPr lvl="0"/>
            <a:r>
              <a:rPr lang="en-US" sz="2400" dirty="0"/>
              <a:t>Edit Profile</a:t>
            </a:r>
          </a:p>
          <a:p>
            <a:pPr lvl="0"/>
            <a:r>
              <a:rPr lang="en-US" sz="2400" dirty="0"/>
              <a:t>Change Password</a:t>
            </a:r>
          </a:p>
          <a:p>
            <a:pPr lvl="0"/>
            <a:r>
              <a:rPr lang="en-US" sz="2400" dirty="0"/>
              <a:t>View Search History </a:t>
            </a:r>
          </a:p>
          <a:p>
            <a:pPr lvl="0"/>
            <a:r>
              <a:rPr lang="en-US" sz="2400" dirty="0"/>
              <a:t>Contact Us</a:t>
            </a:r>
          </a:p>
          <a:p>
            <a:pPr lvl="0"/>
            <a:r>
              <a:rPr lang="en-US" sz="2400" dirty="0" smtClean="0"/>
              <a:t>Logout </a:t>
            </a:r>
            <a:endParaRPr lang="en-US" sz="2400" dirty="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Modules / Web Pages</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0" y="1047750"/>
            <a:ext cx="8488363" cy="3581400"/>
          </a:xfrm>
          <a:prstGeom prst="rect">
            <a:avLst/>
          </a:prstGeom>
          <a:solidFill>
            <a:schemeClr val="bg1">
              <a:alpha val="90000"/>
            </a:schemeClr>
          </a:solidFill>
        </p:spPr>
        <p:txBody>
          <a:bodyPr lIns="91430" tIns="45715" rIns="91430" bIns="45715">
            <a:noAutofit/>
          </a:bodyPr>
          <a:lstStyle/>
          <a:p>
            <a:pPr>
              <a:buNone/>
            </a:pPr>
            <a:r>
              <a:rPr lang="en-IN" sz="2400" b="1" dirty="0" smtClean="0">
                <a:solidFill>
                  <a:srgbClr val="FF0000"/>
                </a:solidFill>
              </a:rPr>
              <a:t>Guest</a:t>
            </a:r>
            <a:r>
              <a:rPr lang="en-US" sz="2400" dirty="0" smtClean="0"/>
              <a:t> </a:t>
            </a:r>
            <a:r>
              <a:rPr lang="en-US" sz="2400" b="1" dirty="0" smtClean="0">
                <a:solidFill>
                  <a:srgbClr val="FF0000"/>
                </a:solidFill>
              </a:rPr>
              <a:t>Section</a:t>
            </a:r>
          </a:p>
          <a:p>
            <a:pPr lvl="0"/>
            <a:r>
              <a:rPr lang="en-US" sz="2400" dirty="0" smtClean="0"/>
              <a:t>Home</a:t>
            </a:r>
          </a:p>
          <a:p>
            <a:pPr lvl="0"/>
            <a:r>
              <a:rPr lang="en-US" sz="2400" dirty="0" smtClean="0"/>
              <a:t>About</a:t>
            </a:r>
          </a:p>
          <a:p>
            <a:pPr lvl="0"/>
            <a:r>
              <a:rPr lang="en-US" sz="2400" dirty="0" smtClean="0"/>
              <a:t>Register</a:t>
            </a:r>
          </a:p>
          <a:p>
            <a:pPr lvl="0"/>
            <a:r>
              <a:rPr lang="en-US" sz="2400" dirty="0" smtClean="0"/>
              <a:t>Login</a:t>
            </a:r>
          </a:p>
          <a:p>
            <a:r>
              <a:rPr lang="en-US" sz="2400" dirty="0"/>
              <a:t>Search </a:t>
            </a:r>
            <a:r>
              <a:rPr lang="en-US" sz="2400" dirty="0" smtClean="0"/>
              <a:t>Products</a:t>
            </a:r>
          </a:p>
          <a:p>
            <a:r>
              <a:rPr lang="en-US" sz="2400" dirty="0" smtClean="0"/>
              <a:t>View Product Details </a:t>
            </a:r>
          </a:p>
          <a:p>
            <a:r>
              <a:rPr lang="en-US" sz="2400" dirty="0"/>
              <a:t>Contact </a:t>
            </a:r>
            <a:r>
              <a:rPr lang="en-US" sz="2400" dirty="0" smtClean="0"/>
              <a:t>Us</a:t>
            </a:r>
            <a:endParaRPr lang="en-US" sz="2400" dirty="0"/>
          </a:p>
          <a:p>
            <a:endParaRPr lang="en-US" sz="2400" dirty="0" smtClean="0"/>
          </a:p>
          <a:p>
            <a:pPr marL="0" indent="0">
              <a:buNone/>
            </a:pPr>
            <a:r>
              <a:rPr lang="en-US" sz="2400" dirty="0" smtClean="0"/>
              <a:t> </a:t>
            </a:r>
          </a:p>
          <a:p>
            <a:pPr marL="0" indent="0">
              <a:buNone/>
            </a:pPr>
            <a:endParaRPr lang="en-US" sz="2400" dirty="0"/>
          </a:p>
          <a:p>
            <a:pPr marL="0" indent="0">
              <a:buNone/>
            </a:pPr>
            <a:endParaRPr lang="en-US" sz="2400" dirty="0" smtClean="0"/>
          </a:p>
          <a:p>
            <a:pPr lvl="0">
              <a:buNone/>
            </a:pPr>
            <a:endParaRPr lang="en-US" sz="2400" dirty="0" smtClean="0"/>
          </a:p>
          <a:p>
            <a:pPr lvl="0"/>
            <a:endParaRPr lang="en-US" sz="2400" dirty="0" smtClean="0"/>
          </a:p>
          <a:p>
            <a:pPr lvl="0"/>
            <a:endParaRPr lang="en-US" sz="2400" dirty="0" smtClean="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r>
              <a:rPr lang="en-US" sz="4800" b="1" dirty="0" smtClean="0"/>
              <a:t>Modules / Web Pages</a:t>
            </a:r>
            <a:endParaRPr lang="en-US" sz="4800" dirty="0"/>
          </a:p>
        </p:txBody>
      </p:sp>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304243" y="1053318"/>
            <a:ext cx="8488363" cy="3581400"/>
          </a:xfrm>
          <a:prstGeom prst="rect">
            <a:avLst/>
          </a:prstGeom>
          <a:solidFill>
            <a:schemeClr val="bg1">
              <a:alpha val="90000"/>
            </a:schemeClr>
          </a:solidFill>
        </p:spPr>
        <p:txBody>
          <a:bodyPr lIns="91430" tIns="45715" rIns="91430" bIns="45715">
            <a:noAutofit/>
          </a:bodyPr>
          <a:lstStyle/>
          <a:p>
            <a:pPr marL="55557" indent="0">
              <a:lnSpc>
                <a:spcPct val="145000"/>
              </a:lnSpc>
              <a:buNone/>
            </a:pPr>
            <a:r>
              <a:rPr lang="en-US" sz="2000" dirty="0" smtClean="0"/>
              <a:t>Table: tbl_Register</a:t>
            </a:r>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pPr marL="541721" indent="-514292" algn="ctr"/>
            <a:r>
              <a:rPr lang="en-US" sz="4800" b="1" dirty="0" smtClean="0">
                <a:solidFill>
                  <a:srgbClr val="0E48A6"/>
                </a:solidFill>
                <a:latin typeface="Adobe Gothic Std B" pitchFamily="34" charset="-128"/>
                <a:ea typeface="Adobe Gothic Std B" pitchFamily="34" charset="-128"/>
              </a:rPr>
              <a:t>Database Structure</a:t>
            </a:r>
            <a:endParaRPr lang="en-US" sz="4800" dirty="0" smtClean="0">
              <a:solidFill>
                <a:srgbClr val="0E48A6"/>
              </a:solidFill>
              <a:latin typeface="Adobe Gothic Std B" pitchFamily="34" charset="-128"/>
              <a:ea typeface="Adobe Gothic Std B" pitchFamily="34"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638915731"/>
              </p:ext>
            </p:extLst>
          </p:nvPr>
        </p:nvGraphicFramePr>
        <p:xfrm>
          <a:off x="457200" y="1885950"/>
          <a:ext cx="8153400" cy="2133600"/>
        </p:xfrm>
        <a:graphic>
          <a:graphicData uri="http://schemas.openxmlformats.org/drawingml/2006/table">
            <a:tbl>
              <a:tblPr/>
              <a:tblGrid>
                <a:gridCol w="2779357"/>
                <a:gridCol w="1748705"/>
                <a:gridCol w="3625338"/>
              </a:tblGrid>
              <a:tr h="406468">
                <a:tc>
                  <a:txBody>
                    <a:bodyPr/>
                    <a:lstStyle/>
                    <a:p>
                      <a:pPr>
                        <a:lnSpc>
                          <a:spcPct val="115000"/>
                        </a:lnSpc>
                        <a:spcAft>
                          <a:spcPts val="0"/>
                        </a:spcAft>
                      </a:pPr>
                      <a:r>
                        <a:rPr lang="en-US" sz="2200" kern="1200" dirty="0" smtClean="0">
                          <a:solidFill>
                            <a:schemeClr val="tx1"/>
                          </a:solidFill>
                          <a:latin typeface="+mn-lt"/>
                          <a:ea typeface="+mn-ea"/>
                          <a:cs typeface="+mn-cs"/>
                        </a:rPr>
                        <a:t>RegId</a:t>
                      </a:r>
                      <a:endParaRPr lang="en-US" sz="22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200" dirty="0" smtClean="0">
                          <a:latin typeface="+mn-lt"/>
                          <a:ea typeface="Times New Roman"/>
                          <a:cs typeface="Mangal"/>
                        </a:rPr>
                        <a:t>int</a:t>
                      </a:r>
                      <a:endParaRPr lang="en-US" sz="2200" dirty="0">
                        <a:latin typeface="+mn-lt"/>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200" dirty="0" smtClean="0">
                          <a:latin typeface="+mn-lt"/>
                          <a:ea typeface="Times New Roman"/>
                          <a:cs typeface="Mangal"/>
                        </a:rPr>
                        <a:t>Auto Number, Primary Key</a:t>
                      </a:r>
                      <a:endParaRPr lang="en-US" sz="2200" dirty="0">
                        <a:latin typeface="+mn-lt"/>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783">
                <a:tc>
                  <a:txBody>
                    <a:bodyPr/>
                    <a:lstStyle/>
                    <a:p>
                      <a:pPr>
                        <a:lnSpc>
                          <a:spcPct val="115000"/>
                        </a:lnSpc>
                        <a:spcAft>
                          <a:spcPts val="0"/>
                        </a:spcAft>
                      </a:pPr>
                      <a:r>
                        <a:rPr lang="en-US" sz="2200" kern="1200" dirty="0" smtClean="0">
                          <a:solidFill>
                            <a:schemeClr val="tx1"/>
                          </a:solidFill>
                          <a:latin typeface="+mn-lt"/>
                          <a:ea typeface="+mn-ea"/>
                          <a:cs typeface="+mn-cs"/>
                        </a:rPr>
                        <a:t>RName</a:t>
                      </a:r>
                      <a:endParaRPr lang="en-US" sz="22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200" dirty="0" smtClean="0">
                          <a:latin typeface="+mn-lt"/>
                          <a:ea typeface="Times New Roman"/>
                          <a:cs typeface="Mangal"/>
                        </a:rPr>
                        <a:t>Varchar(100)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22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783">
                <a:tc>
                  <a:txBody>
                    <a:bodyPr/>
                    <a:lstStyle/>
                    <a:p>
                      <a:pPr>
                        <a:lnSpc>
                          <a:spcPct val="115000"/>
                        </a:lnSpc>
                        <a:spcAft>
                          <a:spcPts val="0"/>
                        </a:spcAft>
                      </a:pPr>
                      <a:r>
                        <a:rPr lang="en-US" sz="2200" dirty="0">
                          <a:latin typeface="Calibri"/>
                          <a:ea typeface="Times New Roman"/>
                          <a:cs typeface="Mangal"/>
                        </a:rPr>
                        <a:t>Mobile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200" dirty="0">
                          <a:latin typeface="Calibri"/>
                          <a:ea typeface="Times New Roman"/>
                          <a:cs typeface="Mangal"/>
                        </a:rPr>
                        <a:t>Varchar(10)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200" dirty="0" smtClean="0">
                          <a:latin typeface="Calibri"/>
                          <a:ea typeface="Times New Roman"/>
                          <a:cs typeface="Mangal"/>
                        </a:rPr>
                        <a:t>10 digits only</a:t>
                      </a:r>
                      <a:endParaRPr lang="en-US" sz="22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783">
                <a:tc>
                  <a:txBody>
                    <a:bodyPr/>
                    <a:lstStyle/>
                    <a:p>
                      <a:pPr>
                        <a:lnSpc>
                          <a:spcPct val="115000"/>
                        </a:lnSpc>
                        <a:spcAft>
                          <a:spcPts val="0"/>
                        </a:spcAft>
                      </a:pPr>
                      <a:r>
                        <a:rPr lang="en-US" sz="2200" dirty="0">
                          <a:latin typeface="Calibri"/>
                          <a:ea typeface="Times New Roman"/>
                          <a:cs typeface="Mangal"/>
                        </a:rPr>
                        <a:t>Email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200" dirty="0">
                          <a:latin typeface="Calibri"/>
                          <a:ea typeface="Times New Roman"/>
                          <a:cs typeface="Mangal"/>
                        </a:rPr>
                        <a:t>Varchar(100)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22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1783">
                <a:tc>
                  <a:txBody>
                    <a:bodyPr/>
                    <a:lstStyle/>
                    <a:p>
                      <a:pPr>
                        <a:lnSpc>
                          <a:spcPct val="115000"/>
                        </a:lnSpc>
                        <a:spcAft>
                          <a:spcPts val="0"/>
                        </a:spcAft>
                      </a:pPr>
                      <a:r>
                        <a:rPr lang="en-US" sz="2200" dirty="0">
                          <a:latin typeface="Calibri"/>
                          <a:ea typeface="Times New Roman"/>
                          <a:cs typeface="Mangal"/>
                        </a:rPr>
                        <a:t>Password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2200" dirty="0">
                          <a:latin typeface="Calibri"/>
                          <a:ea typeface="Times New Roman"/>
                          <a:cs typeface="Mangal"/>
                        </a:rPr>
                        <a:t>varchar(100)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22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304800" y="1047750"/>
            <a:ext cx="8915400" cy="3733800"/>
          </a:xfrm>
          <a:prstGeom prst="rect">
            <a:avLst/>
          </a:prstGeom>
          <a:solidFill>
            <a:schemeClr val="bg1">
              <a:alpha val="90000"/>
            </a:schemeClr>
          </a:solidFill>
        </p:spPr>
        <p:txBody>
          <a:bodyPr lIns="91430" tIns="45715" rIns="91430" bIns="45715">
            <a:noAutofit/>
          </a:bodyPr>
          <a:lstStyle/>
          <a:p>
            <a:pPr>
              <a:buNone/>
            </a:pPr>
            <a:r>
              <a:rPr lang="en-US" sz="2400" dirty="0" smtClean="0"/>
              <a:t>Table: tbl_ContactUs</a:t>
            </a:r>
          </a:p>
          <a:p>
            <a:pP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endParaRPr lang="en-US" sz="1100" dirty="0" smtClean="0"/>
          </a:p>
          <a:p>
            <a:pPr>
              <a:buNone/>
            </a:pPr>
            <a:r>
              <a:rPr lang="en-US" sz="2400" dirty="0" smtClean="0"/>
              <a:t> </a:t>
            </a:r>
            <a:endParaRPr lang="en-US" sz="2400" dirty="0" smtClean="0"/>
          </a:p>
          <a:p>
            <a:pPr>
              <a:buNone/>
            </a:pPr>
            <a:endParaRPr lang="en-US" sz="2400" dirty="0"/>
          </a:p>
        </p:txBody>
      </p:sp>
      <p:sp>
        <p:nvSpPr>
          <p:cNvPr id="13" name="Title 1"/>
          <p:cNvSpPr txBox="1">
            <a:spLocks/>
          </p:cNvSpPr>
          <p:nvPr/>
        </p:nvSpPr>
        <p:spPr>
          <a:xfrm>
            <a:off x="304800" y="133350"/>
            <a:ext cx="8487806" cy="838200"/>
          </a:xfrm>
          <a:prstGeom prst="rect">
            <a:avLst/>
          </a:prstGeom>
          <a:solidFill>
            <a:schemeClr val="bg1">
              <a:lumMod val="95000"/>
              <a:alpha val="90000"/>
            </a:schemeClr>
          </a:solidFill>
        </p:spPr>
        <p:txBody>
          <a:bodyPr lIns="91430" tIns="45715" rIns="91430" bIns="45715" anchor="b">
            <a:noAutofit/>
          </a:bodyPr>
          <a:lstStyle/>
          <a:p>
            <a:pPr marL="541721" indent="-514292" algn="ctr"/>
            <a:r>
              <a:rPr lang="en-US" sz="4800" b="1" dirty="0" smtClean="0">
                <a:solidFill>
                  <a:srgbClr val="0E48A6"/>
                </a:solidFill>
                <a:latin typeface="Adobe Gothic Std B" pitchFamily="34" charset="-128"/>
                <a:ea typeface="Adobe Gothic Std B" pitchFamily="34" charset="-128"/>
              </a:rPr>
              <a:t>Database Structure</a:t>
            </a:r>
            <a:endParaRPr lang="en-US" sz="4800" dirty="0" smtClean="0">
              <a:solidFill>
                <a:srgbClr val="0E48A6"/>
              </a:solidFill>
              <a:latin typeface="Adobe Gothic Std B" pitchFamily="34" charset="-128"/>
              <a:ea typeface="Adobe Gothic Std B" pitchFamily="34" charset="-128"/>
            </a:endParaRPr>
          </a:p>
        </p:txBody>
      </p:sp>
      <p:graphicFrame>
        <p:nvGraphicFramePr>
          <p:cNvPr id="4" name="Table 3"/>
          <p:cNvGraphicFramePr>
            <a:graphicFrameLocks noGrp="1"/>
          </p:cNvGraphicFramePr>
          <p:nvPr>
            <p:extLst>
              <p:ext uri="{D42A27DB-BD31-4B8C-83A1-F6EECF244321}">
                <p14:modId xmlns:p14="http://schemas.microsoft.com/office/powerpoint/2010/main" val="2066317116"/>
              </p:ext>
            </p:extLst>
          </p:nvPr>
        </p:nvGraphicFramePr>
        <p:xfrm>
          <a:off x="445775" y="1504950"/>
          <a:ext cx="8382000" cy="1840230"/>
        </p:xfrm>
        <a:graphic>
          <a:graphicData uri="http://schemas.openxmlformats.org/drawingml/2006/table">
            <a:tbl>
              <a:tblPr/>
              <a:tblGrid>
                <a:gridCol w="2857283"/>
                <a:gridCol w="1797734"/>
                <a:gridCol w="3726983"/>
              </a:tblGrid>
              <a:tr h="284842">
                <a:tc>
                  <a:txBody>
                    <a:bodyPr/>
                    <a:lstStyle/>
                    <a:p>
                      <a:pPr>
                        <a:lnSpc>
                          <a:spcPct val="115000"/>
                        </a:lnSpc>
                        <a:spcAft>
                          <a:spcPts val="0"/>
                        </a:spcAft>
                      </a:pPr>
                      <a:r>
                        <a:rPr lang="en-US" sz="1800" kern="1200" dirty="0" smtClean="0">
                          <a:solidFill>
                            <a:schemeClr val="tx1"/>
                          </a:solidFill>
                          <a:latin typeface="+mn-lt"/>
                          <a:ea typeface="+mn-ea"/>
                          <a:cs typeface="+mn-cs"/>
                        </a:rPr>
                        <a:t>ContactId</a:t>
                      </a: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smtClean="0">
                          <a:latin typeface="+mn-lt"/>
                          <a:ea typeface="Times New Roman"/>
                          <a:cs typeface="Mangal"/>
                        </a:rPr>
                        <a:t>int</a:t>
                      </a: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smtClean="0">
                          <a:latin typeface="+mn-lt"/>
                          <a:ea typeface="Times New Roman"/>
                          <a:cs typeface="Mangal"/>
                        </a:rPr>
                        <a:t>Auto Number, Primary Key</a:t>
                      </a:r>
                      <a:endParaRPr lang="en-US" sz="1500" dirty="0">
                        <a:latin typeface="+mn-lt"/>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2191">
                <a:tc>
                  <a:txBody>
                    <a:bodyPr/>
                    <a:lstStyle/>
                    <a:p>
                      <a:pPr>
                        <a:lnSpc>
                          <a:spcPct val="115000"/>
                        </a:lnSpc>
                        <a:spcAft>
                          <a:spcPts val="0"/>
                        </a:spcAft>
                      </a:pPr>
                      <a:r>
                        <a:rPr lang="en-US" sz="1500" dirty="0">
                          <a:latin typeface="Calibri"/>
                          <a:ea typeface="Times New Roman"/>
                          <a:cs typeface="Mangal"/>
                        </a:rPr>
                        <a:t>RegId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500" dirty="0" smtClean="0">
                          <a:latin typeface="+mn-lt"/>
                          <a:ea typeface="Times New Roman"/>
                          <a:cs typeface="Mangal"/>
                        </a:rPr>
                        <a:t>Int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4842">
                <a:tc>
                  <a:txBody>
                    <a:bodyPr/>
                    <a:lstStyle/>
                    <a:p>
                      <a:pPr>
                        <a:lnSpc>
                          <a:spcPct val="115000"/>
                        </a:lnSpc>
                        <a:spcAft>
                          <a:spcPts val="0"/>
                        </a:spcAft>
                      </a:pPr>
                      <a:r>
                        <a:rPr lang="en-US" sz="1800" kern="1200" dirty="0" smtClean="0">
                          <a:solidFill>
                            <a:schemeClr val="tx1"/>
                          </a:solidFill>
                          <a:latin typeface="+mn-lt"/>
                          <a:ea typeface="+mn-ea"/>
                          <a:cs typeface="+mn-cs"/>
                        </a:rPr>
                        <a:t>CName</a:t>
                      </a: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500" dirty="0" smtClean="0">
                          <a:latin typeface="+mn-lt"/>
                          <a:ea typeface="Times New Roman"/>
                          <a:cs typeface="Mangal"/>
                        </a:rPr>
                        <a:t>Varchar(100)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4842">
                <a:tc>
                  <a:txBody>
                    <a:bodyPr/>
                    <a:lstStyle/>
                    <a:p>
                      <a:pPr>
                        <a:lnSpc>
                          <a:spcPct val="115000"/>
                        </a:lnSpc>
                        <a:spcAft>
                          <a:spcPts val="0"/>
                        </a:spcAft>
                      </a:pPr>
                      <a:r>
                        <a:rPr lang="en-US" sz="1800" kern="1200" dirty="0" smtClean="0">
                          <a:solidFill>
                            <a:schemeClr val="tx1"/>
                          </a:solidFill>
                          <a:latin typeface="+mn-lt"/>
                          <a:ea typeface="+mn-ea"/>
                          <a:cs typeface="+mn-cs"/>
                        </a:rPr>
                        <a:t>Email</a:t>
                      </a: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smtClean="0">
                          <a:latin typeface="Calibri"/>
                          <a:ea typeface="Times New Roman"/>
                          <a:cs typeface="Mangal"/>
                        </a:rPr>
                        <a:t>Varchar(100)</a:t>
                      </a: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4842">
                <a:tc>
                  <a:txBody>
                    <a:bodyPr/>
                    <a:lstStyle/>
                    <a:p>
                      <a:pPr>
                        <a:lnSpc>
                          <a:spcPct val="115000"/>
                        </a:lnSpc>
                        <a:spcAft>
                          <a:spcPts val="0"/>
                        </a:spcAft>
                      </a:pPr>
                      <a:r>
                        <a:rPr lang="en-US" sz="1800" kern="1200" dirty="0" smtClean="0">
                          <a:solidFill>
                            <a:schemeClr val="tx1"/>
                          </a:solidFill>
                          <a:latin typeface="+mn-lt"/>
                          <a:ea typeface="+mn-ea"/>
                          <a:cs typeface="+mn-cs"/>
                        </a:rPr>
                        <a:t>Mobile</a:t>
                      </a: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a:latin typeface="Calibri"/>
                          <a:ea typeface="Times New Roman"/>
                          <a:cs typeface="Mangal"/>
                        </a:rPr>
                        <a:t>varchar(100)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4842">
                <a:tc>
                  <a:txBody>
                    <a:bodyPr/>
                    <a:lstStyle/>
                    <a:p>
                      <a:pPr>
                        <a:lnSpc>
                          <a:spcPct val="115000"/>
                        </a:lnSpc>
                        <a:spcAft>
                          <a:spcPts val="0"/>
                        </a:spcAft>
                      </a:pPr>
                      <a:r>
                        <a:rPr lang="en-US" sz="1800" kern="1200" dirty="0" smtClean="0">
                          <a:solidFill>
                            <a:schemeClr val="tx1"/>
                          </a:solidFill>
                          <a:latin typeface="+mn-lt"/>
                          <a:ea typeface="+mn-ea"/>
                          <a:cs typeface="+mn-cs"/>
                        </a:rPr>
                        <a:t>Message</a:t>
                      </a: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a:latin typeface="Calibri"/>
                          <a:ea typeface="Times New Roman"/>
                          <a:cs typeface="Mangal"/>
                        </a:rPr>
                        <a:t>varchar(100)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500" dirty="0">
                        <a:latin typeface="Calibri"/>
                        <a:ea typeface="Times New Roman"/>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9810874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304800" y="1043940"/>
            <a:ext cx="8488363" cy="3581400"/>
          </a:xfrm>
          <a:prstGeom prst="rect">
            <a:avLst/>
          </a:prstGeom>
          <a:solidFill>
            <a:schemeClr val="bg1">
              <a:alpha val="90000"/>
            </a:schemeClr>
          </a:solidFill>
        </p:spPr>
        <p:txBody>
          <a:bodyPr lIns="91430" tIns="45715" rIns="91430" bIns="45715" anchor="ctr">
            <a:noAutofit/>
          </a:bodyPr>
          <a:lstStyle/>
          <a:p>
            <a:pPr algn="ctr">
              <a:buNone/>
            </a:pPr>
            <a:r>
              <a:rPr lang="en-US" sz="2400" dirty="0" smtClean="0"/>
              <a:t>Add Sample Reports Here</a:t>
            </a:r>
            <a:endParaRPr lang="en-US" sz="2400" dirty="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pPr marL="541721" indent="-514292" algn="ctr"/>
            <a:r>
              <a:rPr lang="en-US" sz="4800" b="1" dirty="0" smtClean="0">
                <a:solidFill>
                  <a:srgbClr val="0E48A6"/>
                </a:solidFill>
                <a:latin typeface="Adobe Gothic Std B" pitchFamily="34" charset="-128"/>
                <a:ea typeface="Adobe Gothic Std B" pitchFamily="34" charset="-128"/>
              </a:rPr>
              <a:t>Reports </a:t>
            </a:r>
            <a:endParaRPr lang="en-US" sz="4800" dirty="0" smtClean="0">
              <a:solidFill>
                <a:srgbClr val="0E48A6"/>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893187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2"/>
          <p:cNvSpPr>
            <a:spLocks noGrp="1"/>
          </p:cNvSpPr>
          <p:nvPr>
            <p:ph type="subTitle" idx="4294967295"/>
          </p:nvPr>
        </p:nvSpPr>
        <p:spPr>
          <a:xfrm>
            <a:off x="304800" y="1043940"/>
            <a:ext cx="8488363" cy="3581400"/>
          </a:xfrm>
          <a:prstGeom prst="rect">
            <a:avLst/>
          </a:prstGeom>
          <a:solidFill>
            <a:schemeClr val="bg1">
              <a:alpha val="90000"/>
            </a:schemeClr>
          </a:solidFill>
        </p:spPr>
        <p:txBody>
          <a:bodyPr lIns="91430" tIns="45715" rIns="91430" bIns="45715" anchor="t">
            <a:noAutofit/>
          </a:bodyPr>
          <a:lstStyle/>
          <a:p>
            <a:pPr>
              <a:buNone/>
            </a:pPr>
            <a:r>
              <a:rPr lang="en-US" sz="2400" dirty="0" smtClean="0"/>
              <a:t>Hardware Requirement </a:t>
            </a:r>
          </a:p>
          <a:p>
            <a:pPr>
              <a:buNone/>
            </a:pPr>
            <a:endParaRPr lang="en-US" sz="2400" dirty="0"/>
          </a:p>
          <a:p>
            <a:pPr>
              <a:buNone/>
            </a:pPr>
            <a:endParaRPr lang="en-US" sz="2400" dirty="0" smtClean="0"/>
          </a:p>
          <a:p>
            <a:pPr>
              <a:buNone/>
            </a:pPr>
            <a:endParaRPr lang="en-US" sz="2400" dirty="0"/>
          </a:p>
          <a:p>
            <a:pPr>
              <a:buNone/>
            </a:pPr>
            <a:r>
              <a:rPr lang="en-US" sz="2400" smtClean="0"/>
              <a:t>Software Requirement</a:t>
            </a:r>
            <a:endParaRPr lang="en-US" sz="2400" dirty="0"/>
          </a:p>
        </p:txBody>
      </p:sp>
      <p:sp>
        <p:nvSpPr>
          <p:cNvPr id="13" name="Title 1"/>
          <p:cNvSpPr txBox="1">
            <a:spLocks/>
          </p:cNvSpPr>
          <p:nvPr/>
        </p:nvSpPr>
        <p:spPr>
          <a:xfrm>
            <a:off x="304800" y="133350"/>
            <a:ext cx="8487806" cy="914400"/>
          </a:xfrm>
          <a:prstGeom prst="rect">
            <a:avLst/>
          </a:prstGeom>
          <a:solidFill>
            <a:schemeClr val="bg1">
              <a:lumMod val="95000"/>
              <a:alpha val="90000"/>
            </a:schemeClr>
          </a:solidFill>
        </p:spPr>
        <p:txBody>
          <a:bodyPr lIns="91430" tIns="45715" rIns="91430" bIns="45715" anchor="b">
            <a:noAutofit/>
          </a:bodyPr>
          <a:lstStyle/>
          <a:p>
            <a:pPr marL="541721" indent="-514292" algn="ctr"/>
            <a:r>
              <a:rPr lang="en-US" sz="4800" b="1" dirty="0" smtClean="0">
                <a:solidFill>
                  <a:srgbClr val="0E48A6"/>
                </a:solidFill>
                <a:latin typeface="Adobe Gothic Std B" pitchFamily="34" charset="-128"/>
                <a:ea typeface="Adobe Gothic Std B" pitchFamily="34" charset="-128"/>
              </a:rPr>
              <a:t>Technologies</a:t>
            </a:r>
            <a:endParaRPr lang="en-US" sz="4800" dirty="0" smtClean="0">
              <a:solidFill>
                <a:srgbClr val="0E48A6"/>
              </a:solidFill>
              <a:latin typeface="Adobe Gothic Std B" pitchFamily="34" charset="-128"/>
              <a:ea typeface="Adobe Gothic Std B" pitchFamily="34" charset="-128"/>
            </a:endParaRPr>
          </a:p>
        </p:txBody>
      </p:sp>
    </p:spTree>
    <p:extLst>
      <p:ext uri="{BB962C8B-B14F-4D97-AF65-F5344CB8AC3E}">
        <p14:creationId xmlns:p14="http://schemas.microsoft.com/office/powerpoint/2010/main" val="36180979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20101</TotalTime>
  <Words>767</Words>
  <Application>Microsoft Office PowerPoint</Application>
  <PresentationFormat>On-screen Show (16:9)</PresentationFormat>
  <Paragraphs>170</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Adobe Gothic Std B</vt:lpstr>
      <vt:lpstr>Arial</vt:lpstr>
      <vt:lpstr>Arial Rounded MT Bold</vt:lpstr>
      <vt:lpstr>Calibri</vt:lpstr>
      <vt:lpstr>Mangal</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dc:title>
  <dc:creator>User</dc:creator>
  <cp:lastModifiedBy>abc</cp:lastModifiedBy>
  <cp:revision>2074</cp:revision>
  <dcterms:created xsi:type="dcterms:W3CDTF">2016-10-16T09:17:56Z</dcterms:created>
  <dcterms:modified xsi:type="dcterms:W3CDTF">2026-08-22T08:03:27Z</dcterms:modified>
</cp:coreProperties>
</file>